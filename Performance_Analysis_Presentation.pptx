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3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4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6256000" cy="9144000"/>
  <p:notesSz cx="9144000" cy="16256000"/>
  <p:embeddedFontLst>
    <p:embeddedFont>
      <p:font typeface="Liter" charset="-122" pitchFamily="34"/>
      <p:regular r:id="rId19"/>
    </p:embeddedFont>
    <p:embeddedFont>
      <p:font typeface="Sorts Mill Goudy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Relationship Id="rId20" Type="http://schemas.openxmlformats.org/officeDocument/2006/relationships/font" Target="fonts/font2.fntdata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Total Calls</c:v>
                </c:pt>
              </c:strCache>
            </c:strRef>
          </c:tx>
          <c:spPr>
            <a:solidFill>
              <a:srgbClr val="8C1515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Admin Support</c:v>
                  </c:pt>
                  <c:pt idx="1">
                    <c:v>Contract Related</c:v>
                  </c:pt>
                  <c:pt idx="2">
                    <c:v>Technical Support</c:v>
                  </c:pt>
                  <c:pt idx="3">
                    <c:v>Payment Related</c:v>
                  </c:pt>
                  <c:pt idx="4">
                    <c:v>Streaming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0.0</c:formatCode>
                <c:ptCount val="5"/>
                <c:pt idx="0">
                  <c:v>13.22</c:v>
                </c:pt>
                <c:pt idx="1">
                  <c:v>16.74</c:v>
                </c:pt>
                <c:pt idx="2">
                  <c:v>21.15</c:v>
                </c:pt>
                <c:pt idx="3">
                  <c:v>23.79</c:v>
                </c:pt>
                <c:pt idx="4">
                  <c:v>25.11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f0f0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Performance Score (indexed)</c:v>
                </c:pt>
              </c:strCache>
            </c:strRef>
          </c:tx>
          <c:spPr>
            <a:solidFill>
              <a:srgbClr val="8C15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Response Time</c:v>
                  </c:pt>
                  <c:pt idx="1">
                    <c:v>Answer Rate</c:v>
                  </c:pt>
                  <c:pt idx="2">
                    <c:v>Satisfaction</c:v>
                  </c:pt>
                  <c:pt idx="3">
                    <c:v>Resolution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70</c:v>
                </c:pt>
                <c:pt idx="1">
                  <c:v>80</c:v>
                </c:pt>
                <c:pt idx="2">
                  <c:v>60</c:v>
                </c:pt>
                <c:pt idx="3">
                  <c:v>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Call Count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8C1515"/>
              </a:solidFill>
              <a:effectLst/>
            </c:spPr>
          </c:dPt>
          <c:dPt>
            <c:idx val="1"/>
            <c:bubble3D val="0"/>
            <c:spPr>
              <a:solidFill>
                <a:srgbClr val="CC2222"/>
              </a:solidFill>
              <a:effectLst/>
            </c:spPr>
          </c:dPt>
          <c:dPt>
            <c:idx val="2"/>
            <c:bubble3D val="0"/>
            <c:spPr>
              <a:solidFill>
                <a:srgbClr val="555555"/>
              </a:solidFill>
              <a:effectLst/>
            </c:spPr>
          </c:dPt>
          <c:dPt>
            <c:idx val="3"/>
            <c:bubble3D val="0"/>
            <c:spPr>
              <a:solidFill>
                <a:srgbClr val="888888"/>
              </a:solidFill>
              <a:effectLst/>
            </c:spPr>
          </c:dPt>
          <c:dPt>
            <c:idx val="4"/>
            <c:bubble3D val="0"/>
            <c:spPr>
              <a:solidFill>
                <a:srgbClr val="BBBBB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Sheet1!$A$2:$A$6</c:f>
              <c:strCache>
                <c:ptCount val="5"/>
                <c:pt idx="0">
                  <c:v>Streaming</c:v>
                </c:pt>
                <c:pt idx="1">
                  <c:v>Payment Related</c:v>
                </c:pt>
                <c:pt idx="2">
                  <c:v>Technical Support</c:v>
                </c:pt>
                <c:pt idx="3">
                  <c:v>Contract Related</c:v>
                </c:pt>
                <c:pt idx="4">
                  <c:v>Admin Support</c:v>
                </c:pt>
              </c:strCache>
            </c:strRef>
          </c:cat>
          <c:val>
            <c:numRef>
              <c:f>Sheet1!$B$2:$B$6</c:f>
              <c:numCache>
                <c:ptCount val="5"/>
                <c:pt idx="0">
                  <c:v>57</c:v>
                </c:pt>
                <c:pt idx="1">
                  <c:v>54</c:v>
                </c:pt>
                <c:pt idx="2">
                  <c:v>48</c:v>
                </c:pt>
                <c:pt idx="3">
                  <c:v>38</c:v>
                </c:pt>
                <c:pt idx="4">
                  <c:v>30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Call Volume</c:v>
                </c:pt>
              </c:strCache>
            </c:strRef>
          </c:tx>
          <c:spPr>
            <a:solidFill>
              <a:srgbClr val="8C151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Sheet1!$A$2:$A$15</c:f>
              <c:multiLvlStrCache>
                <c:ptCount val="1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</c:lvl>
              </c:multiLvlStrCache>
            </c:multiLvlStrRef>
          </c:cat>
          <c:val>
            <c:numRef>
              <c:f>Sheet1!$B$2:$B$15</c:f>
              <c:numCache>
                <c:formatCode>0</c:formatCode>
                <c:ptCount val="14"/>
                <c:pt idx="0">
                  <c:v>10</c:v>
                </c:pt>
                <c:pt idx="1">
                  <c:v>48</c:v>
                </c:pt>
                <c:pt idx="2">
                  <c:v>50</c:v>
                </c:pt>
                <c:pt idx="3">
                  <c:v>52</c:v>
                </c:pt>
                <c:pt idx="4">
                  <c:v>64</c:v>
                </c:pt>
                <c:pt idx="5">
                  <c:v>52</c:v>
                </c:pt>
                <c:pt idx="6">
                  <c:v>50</c:v>
                </c:pt>
                <c:pt idx="7">
                  <c:v>48</c:v>
                </c:pt>
                <c:pt idx="8">
                  <c:v>46</c:v>
                </c:pt>
                <c:pt idx="9">
                  <c:v>52</c:v>
                </c:pt>
                <c:pt idx="10">
                  <c:v>50</c:v>
                </c:pt>
                <c:pt idx="11">
                  <c:v>44</c:v>
                </c:pt>
                <c:pt idx="12">
                  <c:v>56</c:v>
                </c:pt>
                <c:pt idx="13">
                  <c:v>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Resolved</c:v>
                </c:pt>
              </c:strCache>
            </c:strRef>
          </c:tx>
          <c:spPr>
            <a:solidFill>
              <a:srgbClr val="1A1A1A"/>
            </a:solidFill>
            <a:ln w="25400" cap="flat">
              <a:solidFill>
                <a:srgbClr val="1A1A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A1A1A"/>
              </a:solidFill>
              <a:ln w="9525" cap="flat">
                <a:solidFill>
                  <a:srgbClr val="1A1A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Sheet1!$A$2:$A$15</c:f>
              <c:multiLvlStrCache>
                <c:ptCount val="14"/>
                <c:lvl>
                  <c:pt idx="0">
                    <c:v>W1</c:v>
                  </c:pt>
                  <c:pt idx="1">
                    <c:v>W2</c:v>
                  </c:pt>
                  <c:pt idx="2">
                    <c:v>W3</c:v>
                  </c:pt>
                  <c:pt idx="3">
                    <c:v>W4</c:v>
                  </c:pt>
                  <c:pt idx="4">
                    <c:v>W5</c:v>
                  </c:pt>
                  <c:pt idx="5">
                    <c:v>W6</c:v>
                  </c:pt>
                  <c:pt idx="6">
                    <c:v>W7</c:v>
                  </c:pt>
                  <c:pt idx="7">
                    <c:v>W8</c:v>
                  </c:pt>
                  <c:pt idx="8">
                    <c:v>W9</c:v>
                  </c:pt>
                  <c:pt idx="9">
                    <c:v>W10</c:v>
                  </c:pt>
                  <c:pt idx="10">
                    <c:v>W11</c:v>
                  </c:pt>
                  <c:pt idx="11">
                    <c:v>W12</c:v>
                  </c:pt>
                  <c:pt idx="12">
                    <c:v>W13</c:v>
                  </c:pt>
                  <c:pt idx="13">
                    <c:v>W14</c:v>
                  </c:pt>
                </c:lvl>
              </c:multiLvlStrCache>
            </c:multiLvlStrRef>
          </c:cat>
          <c:val>
            <c:numRef>
              <c:f>Sheet1!$C$2:$C$15</c:f>
              <c:numCache>
                <c:formatCode>0</c:formatCode>
                <c:ptCount val="14"/>
                <c:pt idx="0">
                  <c:v>8</c:v>
                </c:pt>
                <c:pt idx="1">
                  <c:v>38</c:v>
                </c:pt>
                <c:pt idx="2">
                  <c:v>42</c:v>
                </c:pt>
                <c:pt idx="3">
                  <c:v>44</c:v>
                </c:pt>
                <c:pt idx="4">
                  <c:v>55</c:v>
                </c:pt>
                <c:pt idx="5">
                  <c:v>46</c:v>
                </c:pt>
                <c:pt idx="6">
                  <c:v>43</c:v>
                </c:pt>
                <c:pt idx="7">
                  <c:v>40</c:v>
                </c:pt>
                <c:pt idx="8">
                  <c:v>39</c:v>
                </c:pt>
                <c:pt idx="9">
                  <c:v>45</c:v>
                </c:pt>
                <c:pt idx="10">
                  <c:v>43</c:v>
                </c:pt>
                <c:pt idx="11">
                  <c:v>38</c:v>
                </c:pt>
                <c:pt idx="12">
                  <c:v>48</c:v>
                </c:pt>
                <c:pt idx="13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DEDEDE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8A8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f0f0f0"/>
              </a:solidFill>
              <a:prstDash val="dash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C151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images.unsplash.com/photo-1556742049-0cfed4f6a45d?w=1200&amp;q=80">    </p:cNvPr>
          <p:cNvPicPr>
            <a:picLocks noChangeAspect="1"/>
          </p:cNvPicPr>
          <p:nvPr/>
        </p:nvPicPr>
        <p:blipFill>
          <a:blip r:embed="rId1"/>
          <a:srcRect l="12917" r="12917" t="0" b="0"/>
          <a:stretch/>
        </p:blipFill>
        <p:spPr>
          <a:xfrm>
            <a:off x="0" y="0"/>
            <a:ext cx="10160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0160000" cy="9144000"/>
          </a:xfrm>
          <a:prstGeom prst="rect">
            <a:avLst/>
          </a:prstGeom>
          <a:gradFill rotWithShape="1" flip="none">
            <a:gsLst>
              <a:gs pos="0">
                <a:srgbClr val="1A0A0A">
                  <a:alpha val="60000"/>
                </a:srgbClr>
              </a:gs>
              <a:gs pos="60000">
                <a:srgbClr val="8C1515">
                  <a:alpha val="56000"/>
                </a:srgbClr>
              </a:gs>
              <a:gs pos="100000">
                <a:srgbClr val="8C1515">
                  <a:alpha val="80000"/>
                </a:srgbClr>
              </a:gs>
            </a:gsLst>
            <a:lin ang="54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10109200" y="0"/>
            <a:ext cx="50800" cy="9144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5" name="Shape 2"/>
          <p:cNvSpPr/>
          <p:nvPr/>
        </p:nvSpPr>
        <p:spPr>
          <a:xfrm>
            <a:off x="10160000" y="0"/>
            <a:ext cx="6096000" cy="9144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0" y="0"/>
            <a:ext cx="10160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7" name="Text 4"/>
          <p:cNvSpPr/>
          <p:nvPr/>
        </p:nvSpPr>
        <p:spPr>
          <a:xfrm>
            <a:off x="635000" y="635000"/>
            <a:ext cx="838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ANALYSIS · CALL CENTER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35000" y="1397000"/>
            <a:ext cx="8890000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S" sz="46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Call Center Performance Dashboard Insights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35000" y="4191000"/>
            <a:ext cx="838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Analyzing Key Metrics and Trends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5000" y="4749800"/>
            <a:ext cx="2286000" cy="0"/>
          </a:xfrm>
          <a:prstGeom prst="straightConnector1">
            <a:avLst/>
          </a:prstGeom>
          <a:noFill/>
          <a:ln w="25400">
            <a:solidFill>
              <a:srgbClr val="CC2222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635000" y="4953000"/>
            <a:ext cx="508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PWC Forage Job Simulation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35000" y="5283200"/>
            <a:ext cx="508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533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 Devanshi Jignesh Bhatt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515600" y="762000"/>
            <a:ext cx="546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· AT A GLANCE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10515600" y="1117600"/>
            <a:ext cx="2794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10515600" y="1320800"/>
            <a:ext cx="5334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55s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515600" y="2159000"/>
            <a:ext cx="533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Response Time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0515600" y="2540000"/>
            <a:ext cx="508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10515600" y="2717800"/>
            <a:ext cx="5334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3.0/5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0515600" y="3556000"/>
            <a:ext cx="533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 Satisfaction Score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10515600" y="3937000"/>
            <a:ext cx="508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10515600" y="4114800"/>
            <a:ext cx="5334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80.4%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0515600" y="4953000"/>
            <a:ext cx="533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Answer Rate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0515600" y="5334000"/>
            <a:ext cx="508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4" name="Text 21"/>
          <p:cNvSpPr/>
          <p:nvPr/>
        </p:nvSpPr>
        <p:spPr>
          <a:xfrm>
            <a:off x="10515600" y="5537200"/>
            <a:ext cx="533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EXECUTIVE SUMMARY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515600" y="5867400"/>
            <a:ext cx="5334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call topics</a:t>
            </a:r>
            <a:pPr>
              <a:lnSpc>
                <a:spcPct val="16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identified with Streaming dominating at 25.11%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agents</a:t>
            </a:r>
            <a:pPr>
              <a:lnSpc>
                <a:spcPct val="16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tracked with performance variation by topic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pPr>
              <a:lnSpc>
                <a:spcPct val="16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response time and satisfaction improvement</a:t>
            </a: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10160000" y="9093200"/>
            <a:ext cx="6096000" cy="50800"/>
          </a:xfrm>
          <a:prstGeom prst="rect">
            <a:avLst/>
          </a:prstGeom>
          <a:solidFill>
            <a:srgbClr val="8C1515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279400"/>
            <a:ext cx="8890000" cy="584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4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CONTENTS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939800"/>
            <a:ext cx="14732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397000"/>
            <a:ext cx="1143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057400" y="1397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Overview &amp; Methodology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057400" y="1828800"/>
            <a:ext cx="546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 scope, data processing pipeline, and key metrics framework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2000" y="2336800"/>
            <a:ext cx="7239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762000" y="3175000"/>
            <a:ext cx="1143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57400" y="3175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Insights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057400" y="3606800"/>
            <a:ext cx="609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Call patterns, topic distribution, agent performance, and satisfaction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62000" y="4114800"/>
            <a:ext cx="7239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62000" y="4953000"/>
            <a:ext cx="1143000" cy="812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57400" y="4953000"/>
            <a:ext cx="5461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7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Recommendations &amp; Next Steps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057400" y="5384800"/>
            <a:ext cx="5461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Strategic action plan to improve call center performance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62000" y="5892800"/>
            <a:ext cx="7239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8280400" y="939800"/>
            <a:ext cx="0" cy="71120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8" name="Text 16"/>
          <p:cNvSpPr/>
          <p:nvPr/>
        </p:nvSpPr>
        <p:spPr>
          <a:xfrm>
            <a:off x="8661400" y="1092200"/>
            <a:ext cx="685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CORE THEMES · KEY FOCUS AREAS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661400" y="1422400"/>
            <a:ext cx="3048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8661400" y="1651000"/>
            <a:ext cx="6858000" cy="1143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1" name="Shape 19"/>
          <p:cNvSpPr/>
          <p:nvPr/>
        </p:nvSpPr>
        <p:spPr>
          <a:xfrm>
            <a:off x="8661400" y="1651000"/>
            <a:ext cx="76200" cy="1143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2" name="Text 20"/>
          <p:cNvSpPr/>
          <p:nvPr/>
        </p:nvSpPr>
        <p:spPr>
          <a:xfrm>
            <a:off x="8890000" y="1727200"/>
            <a:ext cx="647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Processing &amp; Metrics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PowerBI transformation, DAX measures, and key performance indicators including response time and satisfaction scores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61400" y="3302000"/>
            <a:ext cx="6858000" cy="1143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4" name="Shape 22"/>
          <p:cNvSpPr/>
          <p:nvPr/>
        </p:nvSpPr>
        <p:spPr>
          <a:xfrm>
            <a:off x="8661400" y="3302000"/>
            <a:ext cx="76200" cy="1143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0" y="3378200"/>
            <a:ext cx="647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 &amp; Agent Analysis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Distribution of calls across 5 topics, resolution time patterns, and agent performance variation by time period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8661400" y="4953000"/>
            <a:ext cx="6858000" cy="1143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7" name="Shape 25"/>
          <p:cNvSpPr/>
          <p:nvPr/>
        </p:nvSpPr>
        <p:spPr>
          <a:xfrm>
            <a:off x="8661400" y="4953000"/>
            <a:ext cx="76200" cy="1143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0" y="5029200"/>
            <a:ext cx="64770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Recommendations</a:t>
            </a:r>
            <a:pPr>
              <a:lnSpc>
                <a:spcPct val="155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Actionable insights to improve response times, boost satisfaction, and optimize staffing based on call volume trends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762000" y="83566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4986000" y="8458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508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762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· 01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70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15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" y="4318000"/>
            <a:ext cx="508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Overview &amp; Methodology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000" y="6045200"/>
            <a:ext cx="2032000" cy="0"/>
          </a:xfrm>
          <a:prstGeom prst="straightConnector1">
            <a:avLst/>
          </a:prstGeom>
          <a:noFill/>
          <a:ln w="38100">
            <a:solidFill>
              <a:srgbClr val="FFFFFF">
                <a:alpha val="66667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35000" y="62484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Introduction to the project scope, data processing pipeline, and key performance metrics tracked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31000" y="762000"/>
            <a:ext cx="876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OVERVIEW · CHAPTER 01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31000" y="1092200"/>
            <a:ext cx="2540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731000" y="1397000"/>
            <a:ext cx="482600" cy="5588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000" y="13970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0600" y="13462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Scope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PWC Forage Job Simulation analyzing call center data using PowerBI for visualization and DAX for measures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31000" y="25400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731000" y="2768600"/>
            <a:ext cx="482600" cy="5588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731000" y="27686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40600" y="27178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Data Processing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 data loaded and transformed in PowerBI with date parsing, time extraction, and DAX measure creation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1000" y="39116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31000" y="4140200"/>
            <a:ext cx="482600" cy="5588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0" name="Text 18"/>
          <p:cNvSpPr/>
          <p:nvPr/>
        </p:nvSpPr>
        <p:spPr>
          <a:xfrm>
            <a:off x="6731000" y="41402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0600" y="40894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Key Metrics Framework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time, satisfaction score, call answer ratio, topic distribution, and resolution tracking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31000" y="52832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6731000" y="54864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· PREVIEW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55s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31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Avg Response Time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75800" y="5791200"/>
            <a:ext cx="0" cy="10160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779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3.0/5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79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Satisfaction Score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623800" y="5791200"/>
            <a:ext cx="0" cy="10160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2827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27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Call Topics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1000" y="83566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4986000" y="8458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"/>
            <a:ext cx="139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Project leverages PowerBI and DAX to transform raw call data into actionable performance intelligence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939800"/>
            <a:ext cx="14732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922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OVERVIEW · SCOPE &amp;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447800"/>
            <a:ext cx="71120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PWC Forage Job Simulation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analyzing call center data to extract performance insights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PowerBI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with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DAX Expressions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custom measures and advanced analytics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core metrics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tracked across multiple agents and time periods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Interactive filtering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agent name and month via advanced slicers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5029200"/>
            <a:ext cx="711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51562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PIPELINE · PROCESSING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511800"/>
            <a:ext cx="7112000" cy="266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Load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Excel dataset imported into PowerBI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Date column split into date, time, and month name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Measure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DAX formulas calculate averages, counts, and ratios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Visualize</a:t>
            </a:r>
            <a:pPr>
              <a:lnSpc>
                <a:spcPct val="165000"/>
              </a:lnSpc>
              <a:spcBef>
                <a:spcPts val="8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Charts and dashboards for interactive exploration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5000" y="939800"/>
            <a:ext cx="0" cy="72898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483600" y="1092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TRACKED · DASHBOARD COMPONENTS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1447800"/>
          <a:ext cx="7162800" cy="3683000"/>
        </p:xfrm>
        <a:graphic>
          <a:graphicData uri="http://schemas.openxmlformats.org/drawingml/2006/table">
            <a:tbl>
              <a:tblPr/>
              <a:tblGrid>
                <a:gridCol w="2506980"/>
                <a:gridCol w="2506980"/>
                <a:gridCol w="2148840"/>
              </a:tblGrid>
              <a:tr h="582192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Measurement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Source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Response Time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55 seconds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DAX AVERAGE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Avg Satisfaction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3.0 / 5.0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DAX AVERAGE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Call Answer Rate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80.45%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Count Ratio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Topic Distribution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5 categories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Doughnut Chart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20162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Resolution by Topic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Speed &amp; Count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Bar Chart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483600" y="5334000"/>
            <a:ext cx="71628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4" name="Shape 11"/>
          <p:cNvSpPr/>
          <p:nvPr/>
        </p:nvSpPr>
        <p:spPr>
          <a:xfrm>
            <a:off x="8483600" y="5384800"/>
            <a:ext cx="7162800" cy="1270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8661400" y="5486400"/>
            <a:ext cx="685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BOTTOM LINE · KEY INSIGHT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61400" y="5765800"/>
            <a:ext cx="68072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dashboard provides a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comprehensive view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call center operations with interactive filtering by agent and month, enabling data-driven decisions.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3600" y="6781800"/>
            <a:ext cx="71628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8483600" y="6883400"/>
            <a:ext cx="716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DAX FORMULA EXAMPLE · RESPONSE TIME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83600" y="7162800"/>
            <a:ext cx="71628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2C2C2C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Avgspeed = AVERAGE(Sheet1[Speed of answer in seconds])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Similar DAX formulas calculate satisfaction averages and resolution counts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83566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14986000" y="8458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"/>
            <a:ext cx="139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Call volume peaks in Week 5 with highest resolution rates, while Streaming drives nearly one-quarter of all inquiries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939800"/>
            <a:ext cx="14732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143000"/>
            <a:ext cx="4699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181100"/>
            <a:ext cx="4699000" cy="1651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270000"/>
            <a:ext cx="419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CALLS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524000"/>
            <a:ext cx="4191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25.11%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2606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Largest call topic category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143000"/>
            <a:ext cx="4699000" cy="38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1181100"/>
            <a:ext cx="4699000" cy="1651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1270000"/>
            <a:ext cx="419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ANSWER RATE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1524000"/>
            <a:ext cx="4191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80.45%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2606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190 answered vs 37 missed (Agent Dan, Jan)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143000"/>
            <a:ext cx="4699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1181100"/>
            <a:ext cx="4699000" cy="1651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1270000"/>
            <a:ext cx="419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PEAK WEEK VOLUME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1524000"/>
            <a:ext cx="4191000" cy="711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Week 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260600"/>
            <a:ext cx="4191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call count and resolution rate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0226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62000" y="3149600"/>
            <a:ext cx="736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Distribution by Topic (percentage of total calls)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62000" y="3454400"/>
          <a:ext cx="7620000" cy="4318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8763000" y="3149600"/>
            <a:ext cx="698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Dashboard Features &amp; Interactive Controls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763000" y="3479800"/>
            <a:ext cx="695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Agent Filtering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Slicer displays 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agents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(Becky, Dan, Diane, Greg, Jim, Joe, Martha, Stewart). Selection dynamically updates all charts.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763000" y="5105400"/>
            <a:ext cx="69596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6" name="Text 23"/>
          <p:cNvSpPr/>
          <p:nvPr/>
        </p:nvSpPr>
        <p:spPr>
          <a:xfrm>
            <a:off x="8763000" y="5232400"/>
            <a:ext cx="6959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Month Filtering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Slicer enables 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time-period comparison</a:t>
            </a:r>
            <a:pPr>
              <a:lnSpc>
                <a:spcPct val="16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All example data is from Agent Dan in January.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763000" y="6858000"/>
            <a:ext cx="69596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8763000" y="6985000"/>
            <a:ext cx="6959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Insight</a:t>
            </a:r>
            <a:endParaRPr lang="en-US" sz="1600" dirty="0"/>
          </a:p>
          <a:p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+ Payment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= 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49%</a:t>
            </a:r>
            <a:pPr>
              <a:lnSpc>
                <a:spcPct val="150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calls. Allocate resources accordingly.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762000" y="83058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0" name="Text 27"/>
          <p:cNvSpPr/>
          <p:nvPr/>
        </p:nvSpPr>
        <p:spPr>
          <a:xfrm>
            <a:off x="14986000" y="8407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508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762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· 02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70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15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" y="4318000"/>
            <a:ext cx="508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Performance Insights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000" y="6045200"/>
            <a:ext cx="2032000" cy="0"/>
          </a:xfrm>
          <a:prstGeom prst="straightConnector1">
            <a:avLst/>
          </a:prstGeom>
          <a:noFill/>
          <a:ln w="38100">
            <a:solidFill>
              <a:srgbClr val="FFFFFF">
                <a:alpha val="66667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35000" y="62484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Deep-dive analysis into call patterns, agent performance, topic resolution, and customer satisfaction drivers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31000" y="762000"/>
            <a:ext cx="876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OVERVIEW · CHAPTER 02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31000" y="1092200"/>
            <a:ext cx="2540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731000" y="1397000"/>
            <a:ext cx="482600" cy="5588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000" y="13970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0600" y="13462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Response Time &amp; Satisfaction Analysis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55-second average response time and 3.0/5 satisfaction score reveal operational efficiency with customer experience gaps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31000" y="25400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731000" y="2768600"/>
            <a:ext cx="482600" cy="5588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731000" y="27686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40600" y="27178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Topic Distribution &amp; Resolution Patterns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and Contract issues dominate volume; Contract and Admin Support require longest resolution times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1000" y="39116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31000" y="4140200"/>
            <a:ext cx="482600" cy="5588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0" name="Text 18"/>
          <p:cNvSpPr/>
          <p:nvPr/>
        </p:nvSpPr>
        <p:spPr>
          <a:xfrm>
            <a:off x="6731000" y="41402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0600" y="40894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Agent Performance by Time Period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 agents tracked with Week 5 showing peak volume; performance varies significantly by topic and month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31000" y="52832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6731000" y="54864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METRICS · PREVIEW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80.4%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31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Answer Rate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75800" y="5791200"/>
            <a:ext cx="0" cy="10160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779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79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Call Topics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623800" y="5791200"/>
            <a:ext cx="0" cy="10160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2827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27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Agents Tracked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1000" y="83566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4986000" y="8458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"/>
            <a:ext cx="139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Response time averaging 55 seconds signals operational efficiency, but satisfaction score of 3.0/5 reveals significant improvement gap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939800"/>
            <a:ext cx="14732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762000" y="1143000"/>
            <a:ext cx="4699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6" name="Shape 4"/>
          <p:cNvSpPr/>
          <p:nvPr/>
        </p:nvSpPr>
        <p:spPr>
          <a:xfrm>
            <a:off x="762000" y="1181100"/>
            <a:ext cx="4699000" cy="1905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1270000"/>
            <a:ext cx="419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RESPONSE TIME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1549400"/>
            <a:ext cx="4191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55s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16000" y="2463800"/>
            <a:ext cx="4191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indicator; goal: </a:t>
            </a:r>
            <a:pPr>
              <a:lnSpc>
                <a:spcPct val="140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or reduce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778500" y="1143000"/>
            <a:ext cx="4699000" cy="381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5778500" y="1181100"/>
            <a:ext cx="4699000" cy="1905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2" name="Text 10"/>
          <p:cNvSpPr/>
          <p:nvPr/>
        </p:nvSpPr>
        <p:spPr>
          <a:xfrm>
            <a:off x="6032500" y="1270000"/>
            <a:ext cx="419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AVG SATISFACTION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032500" y="1549400"/>
            <a:ext cx="4191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3.0/5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032500" y="24638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Room for improvement; target is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4.0+</a:t>
            </a:r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through training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0795000" y="1143000"/>
            <a:ext cx="4699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6" name="Shape 14"/>
          <p:cNvSpPr/>
          <p:nvPr/>
        </p:nvSpPr>
        <p:spPr>
          <a:xfrm>
            <a:off x="10795000" y="1181100"/>
            <a:ext cx="4699000" cy="1905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7" name="Text 15"/>
          <p:cNvSpPr/>
          <p:nvPr/>
        </p:nvSpPr>
        <p:spPr>
          <a:xfrm>
            <a:off x="11049000" y="1270000"/>
            <a:ext cx="4191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CALLS ANSWERED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049000" y="1549400"/>
            <a:ext cx="4191000" cy="863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190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049000" y="2463800"/>
            <a:ext cx="4191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Vs 37 not answered (Agent Dan, Jan) — </a:t>
            </a:r>
            <a:pPr>
              <a:lnSpc>
                <a:spcPct val="150000"/>
              </a:lnSpc>
            </a:pPr>
            <a:r>
              <a:rPr lang="en-US" sz="13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80.45% rate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62000" y="32766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62000" y="3403600"/>
            <a:ext cx="736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Performance Assessment: Efficiency vs. Satisfaction</a:t>
            </a:r>
            <a:endParaRPr lang="en-US" sz="1600" dirty="0"/>
          </a:p>
        </p:txBody>
      </p:sp>
      <p:graphicFrame>
        <p:nvGraphicFramePr>
          <p:cNvPr id="22" name="Chart 0" descr=""/>
          <p:cNvGraphicFramePr/>
          <p:nvPr/>
        </p:nvGraphicFramePr>
        <p:xfrm>
          <a:off x="762000" y="3708400"/>
          <a:ext cx="7112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3" name="Text 20"/>
          <p:cNvSpPr/>
          <p:nvPr/>
        </p:nvSpPr>
        <p:spPr>
          <a:xfrm>
            <a:off x="8255000" y="3403600"/>
            <a:ext cx="7366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Findings &amp; Actionable Insights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8255000" y="3733800"/>
            <a:ext cx="736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5" name="Shape 22"/>
          <p:cNvSpPr/>
          <p:nvPr/>
        </p:nvSpPr>
        <p:spPr>
          <a:xfrm>
            <a:off x="8255000" y="3784600"/>
            <a:ext cx="7366000" cy="2540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26" name="Text 23"/>
          <p:cNvSpPr/>
          <p:nvPr/>
        </p:nvSpPr>
        <p:spPr>
          <a:xfrm>
            <a:off x="8483600" y="3886200"/>
            <a:ext cx="6934200" cy="2336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Response Time — Acceptable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55s is within benchmarks. Monitor for consistency.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5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Satisfaction — Needs Improvement</a:t>
            </a:r>
            <a:endParaRPr lang="en-US" sz="1600" dirty="0"/>
          </a:p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3.0/5 is below target.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 needed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255000" y="6477000"/>
            <a:ext cx="7366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8" name="Text 25"/>
          <p:cNvSpPr/>
          <p:nvPr/>
        </p:nvSpPr>
        <p:spPr>
          <a:xfrm>
            <a:off x="8255000" y="6604000"/>
            <a:ext cx="736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 PLAN · PRIORITY ITEMS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255000" y="6883400"/>
            <a:ext cx="736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Implement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coaching programs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focused on first-call resolution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Deploy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satisfaction monitoring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 catch issues early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762000" y="83058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1" name="Text 28"/>
          <p:cNvSpPr/>
          <p:nvPr/>
        </p:nvSpPr>
        <p:spPr>
          <a:xfrm>
            <a:off x="14986000" y="8407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"/>
            <a:ext cx="139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Streaming and Contract issues dominate call volume, while Admin Support and Contract topics require longest resolution times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939800"/>
            <a:ext cx="14732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92200"/>
            <a:ext cx="749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Distribution by Topic (doughnut chart)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1397000"/>
          <a:ext cx="7112000" cy="508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762000" y="6553200"/>
            <a:ext cx="711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Total calls: 227 | Data shown for all agents across full period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55000" y="939800"/>
            <a:ext cx="0" cy="72898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8534400" y="1092200"/>
            <a:ext cx="70866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ANALYSIS · TOPIC BREAKDOWN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534400" y="1422400"/>
            <a:ext cx="7086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Streaming: 25.11% — Highest Volume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 largest category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Dedicated attention and specialized agent training needed.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34400" y="3200400"/>
            <a:ext cx="70866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8534400" y="3327400"/>
            <a:ext cx="7086600" cy="165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Contract + Admin: Longest Resolution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Longest to resolve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indicating complexity. Targeted resources and self-service tools needed.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534400" y="5105400"/>
            <a:ext cx="70866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4" name="Text 11"/>
          <p:cNvSpPr/>
          <p:nvPr/>
        </p:nvSpPr>
        <p:spPr>
          <a:xfrm>
            <a:off x="8534400" y="5232400"/>
            <a:ext cx="70866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Payment: 23.79% — Second Highest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Nearly as frequent as Streaming. 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Proactive billing communications</a:t>
            </a:r>
            <a:pPr>
              <a:lnSpc>
                <a:spcPct val="155000"/>
              </a:lnSpc>
              <a:spcBef>
                <a:spcPts val="4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recommended.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34400" y="6629400"/>
            <a:ext cx="70866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6" name="Text 13"/>
          <p:cNvSpPr/>
          <p:nvPr/>
        </p:nvSpPr>
        <p:spPr>
          <a:xfrm>
            <a:off x="8534400" y="6756400"/>
            <a:ext cx="2540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IMPLICATION · ACTION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34400" y="7010400"/>
            <a:ext cx="7086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on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and Contract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Develop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specialized training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self-service options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762000" y="83566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14986000" y="8458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"/>
            <a:ext cx="139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Agent performance varies by topic and time period, with Week 5 showing peak volume and resolution efficiency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939800"/>
            <a:ext cx="14732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92200"/>
            <a:ext cx="1016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Calls by Time: Volume and Resolution Trend (Agent Dan sample)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62000" y="1397000"/>
          <a:ext cx="10541000" cy="4064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1607800" y="1092200"/>
            <a:ext cx="41402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OBSERVATIONS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1607800" y="1422400"/>
            <a:ext cx="2286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11607800" y="1524000"/>
            <a:ext cx="41402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Peak in Week 5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Highest volume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(64 calls) and resolution (55). Strong peak capacity.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11607800" y="2946400"/>
            <a:ext cx="41402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1" name="Text 8"/>
          <p:cNvSpPr/>
          <p:nvPr/>
        </p:nvSpPr>
        <p:spPr>
          <a:xfrm>
            <a:off x="11607800" y="2997200"/>
            <a:ext cx="41402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8 Agents Tracked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Becky, Dan, Diane, Greg, Jim, Joe, Martha, Stewart.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Variable performance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11607800" y="4622800"/>
            <a:ext cx="41402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3" name="Text 10"/>
          <p:cNvSpPr/>
          <p:nvPr/>
        </p:nvSpPr>
        <p:spPr>
          <a:xfrm>
            <a:off x="11607800" y="4724400"/>
            <a:ext cx="4140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5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Resolution Efficiency</a:t>
            </a:r>
            <a:endParaRPr lang="en-US" sz="1600" dirty="0"/>
          </a:p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Averages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~85%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Dips in Weeks 1, 14 are boundaries.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62000" y="5638800"/>
            <a:ext cx="762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 List with Interactive Filtering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969000"/>
          <a:ext cx="14732000" cy="2159000"/>
        </p:xfrm>
        <a:graphic>
          <a:graphicData uri="http://schemas.openxmlformats.org/drawingml/2006/table">
            <a:tbl>
              <a:tblPr/>
              <a:tblGrid>
                <a:gridCol w="2946400"/>
                <a:gridCol w="2946400"/>
                <a:gridCol w="2946400"/>
                <a:gridCol w="2946400"/>
                <a:gridCol w="2946400"/>
              </a:tblGrid>
              <a:tr h="47268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Feature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Agent Slicer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Month Slicer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Charts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Metrics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5621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Function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Filter by agent name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Filter by month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Dynamic update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Real-time calculation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21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Benefit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Individual performance view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Time-period comparison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Contextual visualization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DAX-powered accuracy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562107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Example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Agent Dan selected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January data shown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All charts refresh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190 calls answered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6" name="Shape 12"/>
          <p:cNvSpPr/>
          <p:nvPr/>
        </p:nvSpPr>
        <p:spPr>
          <a:xfrm>
            <a:off x="762000" y="83058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7" name="Text 13"/>
          <p:cNvSpPr/>
          <p:nvPr/>
        </p:nvSpPr>
        <p:spPr>
          <a:xfrm>
            <a:off x="14986000" y="84074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9144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6096000" cy="50800"/>
          </a:xfrm>
          <a:prstGeom prst="rect">
            <a:avLst/>
          </a:prstGeom>
          <a:solidFill>
            <a:srgbClr val="6B0F0F"/>
          </a:solidFill>
          <a:ln/>
        </p:spPr>
      </p:sp>
      <p:sp>
        <p:nvSpPr>
          <p:cNvPr id="4" name="Text 2"/>
          <p:cNvSpPr/>
          <p:nvPr/>
        </p:nvSpPr>
        <p:spPr>
          <a:xfrm>
            <a:off x="635000" y="762000"/>
            <a:ext cx="4826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spc="300" kern="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CHAPTER · 03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08000" y="1270000"/>
            <a:ext cx="5080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0" b="1" dirty="0">
                <a:solidFill>
                  <a:srgbClr val="FFFFFF">
                    <a:alpha val="15000"/>
                  </a:srgbClr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03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5000" y="4318000"/>
            <a:ext cx="5080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3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Recommendations &amp; Next Steps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35000" y="6045200"/>
            <a:ext cx="2032000" cy="0"/>
          </a:xfrm>
          <a:prstGeom prst="straightConnector1">
            <a:avLst/>
          </a:prstGeom>
          <a:noFill/>
          <a:ln w="38100">
            <a:solidFill>
              <a:srgbClr val="FFFFFF">
                <a:alpha val="66667"/>
              </a:srgbClr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35000" y="62484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4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Strategic action plan to improve call center performance based on data-driven insights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31000" y="762000"/>
            <a:ext cx="8763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SECTION OVERVIEW · CHAPTER 03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731000" y="1092200"/>
            <a:ext cx="2540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6731000" y="1397000"/>
            <a:ext cx="482600" cy="5588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2" name="Text 10"/>
          <p:cNvSpPr/>
          <p:nvPr/>
        </p:nvSpPr>
        <p:spPr>
          <a:xfrm>
            <a:off x="6731000" y="13970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340600" y="13462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Operational Improvements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 response times, boost satisfaction scores, and optimize agent availability through data-driven staffing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731000" y="25400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5" name="Shape 13"/>
          <p:cNvSpPr/>
          <p:nvPr/>
        </p:nvSpPr>
        <p:spPr>
          <a:xfrm>
            <a:off x="6731000" y="2768600"/>
            <a:ext cx="482600" cy="558800"/>
          </a:xfrm>
          <a:prstGeom prst="rect">
            <a:avLst/>
          </a:prstGeom>
          <a:solidFill>
            <a:srgbClr val="8A8A8A"/>
          </a:solidFill>
          <a:ln/>
        </p:spPr>
      </p:sp>
      <p:sp>
        <p:nvSpPr>
          <p:cNvPr id="16" name="Text 14"/>
          <p:cNvSpPr/>
          <p:nvPr/>
        </p:nvSpPr>
        <p:spPr>
          <a:xfrm>
            <a:off x="6731000" y="27686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340600" y="27178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Topic-Focused Strategy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specialized resources and training for high-volume topics like Streaming and Contract issues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731000" y="39116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9" name="Shape 17"/>
          <p:cNvSpPr/>
          <p:nvPr/>
        </p:nvSpPr>
        <p:spPr>
          <a:xfrm>
            <a:off x="6731000" y="4140200"/>
            <a:ext cx="482600" cy="5588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0" name="Text 18"/>
          <p:cNvSpPr/>
          <p:nvPr/>
        </p:nvSpPr>
        <p:spPr>
          <a:xfrm>
            <a:off x="6731000" y="4140200"/>
            <a:ext cx="4826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40600" y="4089400"/>
            <a:ext cx="825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Implementation Roadmap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300" dirty="0">
                <a:solidFill>
                  <a:srgbClr val="55555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Phased approach: training programs, staffing adjustments, and specialized resource development with clear timelines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731000" y="52832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/>
          <p:nvPr/>
        </p:nvSpPr>
        <p:spPr>
          <a:xfrm>
            <a:off x="6731000" y="5486400"/>
            <a:ext cx="889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IMPACT · PREVIEW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&lt;50s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731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Target Response Time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575800" y="5791200"/>
            <a:ext cx="0" cy="10160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7" name="Text 25"/>
          <p:cNvSpPr/>
          <p:nvPr/>
        </p:nvSpPr>
        <p:spPr>
          <a:xfrm>
            <a:off x="9779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4.0+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779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Target Satisfaction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2623800" y="5791200"/>
            <a:ext cx="0" cy="10160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12827000" y="5842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200" b="1" dirty="0">
                <a:solidFill>
                  <a:srgbClr val="8C1515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90%+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2827000" y="6477000"/>
            <a:ext cx="2794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Target Answer Rate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731000" y="8356600"/>
            <a:ext cx="8890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14986000" y="8458200"/>
            <a:ext cx="76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152400"/>
            <a:ext cx="139700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Four strategic priorities emerge: reduce response times, boost satisfaction, optimize staffing, and develop topic-specific expertise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2000" y="939800"/>
            <a:ext cx="14732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5" name="Text 3"/>
          <p:cNvSpPr/>
          <p:nvPr/>
        </p:nvSpPr>
        <p:spPr>
          <a:xfrm>
            <a:off x="762000" y="10922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INSIGHTS · SUMMARY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1447800"/>
            <a:ext cx="7112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Response time</a:t>
            </a:r>
            <a:pPr>
              <a:lnSpc>
                <a:spcPct val="15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at 55s: </a:t>
            </a:r>
            <a:pPr>
              <a:lnSpc>
                <a:spcPct val="15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maintain or reduce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Satisfaction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3.0/5: needs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training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and problem-solving enhancement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Staffing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optimize via data-driven volume trend analysis</a:t>
            </a:r>
            <a:endParaRPr lang="en-US" sz="1600" dirty="0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+ Contract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high-volume, needs </a:t>
            </a:r>
            <a:pPr>
              <a:lnSpc>
                <a:spcPct val="15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specialized resources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4699000"/>
            <a:ext cx="711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762000" y="4826000"/>
            <a:ext cx="6985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RECOMMENDATIONS · NEXT STEPS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2000" y="5181600"/>
            <a:ext cx="7112000" cy="292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 regular training programs</a:t>
            </a:r>
            <a:pPr>
              <a:lnSpc>
                <a:spcPct val="165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focusing on first-call resolution and customer communication skills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and adjust staffing levels</a:t>
            </a:r>
            <a:pPr>
              <a:lnSpc>
                <a:spcPct val="16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based on call volume trends, especially around Week 5 peaks</a:t>
            </a:r>
            <a:endParaRPr lang="en-US" sz="1600" dirty="0"/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65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Develop specialized resources</a:t>
            </a:r>
            <a:pPr>
              <a:lnSpc>
                <a:spcPct val="165000"/>
              </a:lnSpc>
              <a:spcBef>
                <a:spcPts val="600"/>
              </a:spcBef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(FAQs, knowledge base, escalation paths) for Streaming and Contract topics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255000" y="939800"/>
            <a:ext cx="0" cy="728980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8483600" y="1092200"/>
            <a:ext cx="7239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dirty="0">
                <a:solidFill>
                  <a:srgbClr val="1A1A1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Implementation Roadmap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483600" y="1447800"/>
          <a:ext cx="7162800" cy="3302000"/>
        </p:xfrm>
        <a:graphic>
          <a:graphicData uri="http://schemas.openxmlformats.org/drawingml/2006/table">
            <a:tbl>
              <a:tblPr/>
              <a:tblGrid>
                <a:gridCol w="1575816"/>
                <a:gridCol w="2865120"/>
                <a:gridCol w="2721864"/>
              </a:tblGrid>
              <a:tr h="599205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Phase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Action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Expected Outcome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Short-term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Agent training on top 2 topics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Faster resolution times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Medium-term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Staffing model optimization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Reduced missed calls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Long-term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Self-service portal launch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Lower call volume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5699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Ongoing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Dashboard monitoring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2C2C2C"/>
                          </a:solidFill>
                          <a:latin typeface="Liter" pitchFamily="34" charset="0"/>
                          <a:ea typeface="Liter" pitchFamily="34" charset="-122"/>
                          <a:cs typeface="Liter" pitchFamily="34" charset="-120"/>
                        </a:rPr>
                        <a:t>Data-driven decisions</a:t>
                      </a:r>
                      <a:endParaRPr lang="en-US" sz="1400" dirty="0">
                        <a:latin typeface="Liter" charset="0"/>
                        <a:ea typeface="Liter" charset="0"/>
                        <a:cs typeface="Liter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EDE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8483600" y="4953000"/>
            <a:ext cx="7162800" cy="381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4" name="Shape 11"/>
          <p:cNvSpPr/>
          <p:nvPr/>
        </p:nvSpPr>
        <p:spPr>
          <a:xfrm>
            <a:off x="8483600" y="5003800"/>
            <a:ext cx="7162800" cy="1397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15" name="Text 12"/>
          <p:cNvSpPr/>
          <p:nvPr/>
        </p:nvSpPr>
        <p:spPr>
          <a:xfrm>
            <a:off x="8661400" y="5105400"/>
            <a:ext cx="685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BOTTOM LINE · STRATEGIC IMPACT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661400" y="5384800"/>
            <a:ext cx="68072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priorities enable targets: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&lt;50s response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4.0+ satisfaction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,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90%+ answer rate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in 6 months.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483600" y="6553200"/>
            <a:ext cx="71628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8" name="Text 15"/>
          <p:cNvSpPr/>
          <p:nvPr/>
        </p:nvSpPr>
        <p:spPr>
          <a:xfrm>
            <a:off x="8483600" y="6654800"/>
            <a:ext cx="7162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1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FOCUS AREAS · PRIORITY MATRIX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8483600" y="6934200"/>
            <a:ext cx="71628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Quick Win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Staffing for Week 5 peak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Impact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Agent training on Streaming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Self-service portal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762000" y="8356600"/>
            <a:ext cx="14732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14986000" y="8458200"/>
            <a:ext cx="76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200" dirty="0">
                <a:solidFill>
                  <a:srgbClr val="8A8A8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38100"/>
          </a:xfrm>
          <a:prstGeom prst="rect">
            <a:avLst/>
          </a:prstGeom>
          <a:solidFill>
            <a:srgbClr val="8C1515"/>
          </a:solidFill>
          <a:ln/>
        </p:spPr>
      </p:sp>
      <p:pic>
        <p:nvPicPr>
          <p:cNvPr id="3" name="Image 0" descr="https://images.unsplash.com/photo-1556742049-0cfed4f6a45d?w=800&amp;q=80">    </p:cNvPr>
          <p:cNvPicPr>
            <a:picLocks noChangeAspect="1"/>
          </p:cNvPicPr>
          <p:nvPr/>
        </p:nvPicPr>
        <p:blipFill>
          <a:blip r:embed="rId1"/>
          <a:srcRect l="23933" r="23933" t="0" b="0"/>
          <a:stretch/>
        </p:blipFill>
        <p:spPr>
          <a:xfrm>
            <a:off x="0" y="38100"/>
            <a:ext cx="7112000" cy="91059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38100"/>
            <a:ext cx="7112000" cy="9105900"/>
          </a:xfrm>
          <a:prstGeom prst="rect">
            <a:avLst/>
          </a:prstGeom>
          <a:gradFill rotWithShape="1" flip="none">
            <a:gsLst>
              <a:gs pos="0">
                <a:srgbClr val="8C1515">
                  <a:alpha val="80000"/>
                </a:srgbClr>
              </a:gs>
              <a:gs pos="50000">
                <a:srgbClr val="8C1515">
                  <a:alpha val="56000"/>
                </a:srgbClr>
              </a:gs>
              <a:gs pos="100000">
                <a:srgbClr val="1A0A0A">
                  <a:alpha val="50000"/>
                </a:srgbClr>
              </a:gs>
            </a:gsLst>
            <a:lin ang="0" scaled="1"/>
          </a:gradFill>
          <a:ln/>
        </p:spPr>
      </p:sp>
      <p:sp>
        <p:nvSpPr>
          <p:cNvPr id="5" name="Shape 2"/>
          <p:cNvSpPr/>
          <p:nvPr/>
        </p:nvSpPr>
        <p:spPr>
          <a:xfrm>
            <a:off x="7073900" y="38100"/>
            <a:ext cx="50800" cy="91059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6" name="Text 3"/>
          <p:cNvSpPr/>
          <p:nvPr/>
        </p:nvSpPr>
        <p:spPr>
          <a:xfrm>
            <a:off x="635000" y="762000"/>
            <a:ext cx="584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300" kern="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CALL CENTER ANALYSIS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35000" y="2794000"/>
            <a:ext cx="584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Thank You</a:t>
            </a:r>
            <a:endParaRPr lang="en-US" sz="1600" dirty="0"/>
          </a:p>
          <a:p>
            <a:pPr>
              <a:lnSpc>
                <a:spcPct val="120000"/>
              </a:lnSpc>
              <a:spcBef>
                <a:spcPts val="1200"/>
              </a:spcBef>
            </a:pPr>
            <a:r>
              <a:rPr lang="en-US" sz="2000" dirty="0">
                <a:solidFill>
                  <a:srgbClr val="FFB3B3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Call Center Performance Insights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35000" y="5384800"/>
            <a:ext cx="2032000" cy="0"/>
          </a:xfrm>
          <a:prstGeom prst="straightConnector1">
            <a:avLst/>
          </a:prstGeom>
          <a:noFill/>
          <a:ln w="38100">
            <a:solidFill>
              <a:srgbClr val="FFFFFF">
                <a:alpha val="66667"/>
              </a:srgbClr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635000" y="55880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Presented by Devanshi Jignesh Bhatt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35000" y="6223000"/>
            <a:ext cx="584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spc="200" kern="0" dirty="0">
                <a:solidFill>
                  <a:srgbClr val="FFFFFF">
                    <a:alpha val="667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· PWC FORAGE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124700" y="38100"/>
            <a:ext cx="9131300" cy="91059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7620000" y="762000"/>
            <a:ext cx="8128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TAKEAWAYS · CORE INSIGHTS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0" y="1092200"/>
            <a:ext cx="2540000" cy="0"/>
          </a:xfrm>
          <a:prstGeom prst="straightConnector1">
            <a:avLst/>
          </a:prstGeom>
          <a:noFill/>
          <a:ln w="25400">
            <a:solidFill>
              <a:srgbClr val="8C1515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7620000" y="1320800"/>
            <a:ext cx="50800" cy="1143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15" name="Text 12"/>
          <p:cNvSpPr/>
          <p:nvPr/>
        </p:nvSpPr>
        <p:spPr>
          <a:xfrm>
            <a:off x="7848600" y="1320800"/>
            <a:ext cx="81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Response Efficiency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55-second average response time and 80.45% answer rate demonstrate solid operational efficiency with room for targeted improvement.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0" y="2590800"/>
            <a:ext cx="8128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7620000" y="2768600"/>
            <a:ext cx="50800" cy="1143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7848600" y="2768600"/>
            <a:ext cx="81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Topic Concentration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Streaming (25.11%) and Payment (23.79%) account for nearly half of all calls, signaling the need for specialized resources in these areas.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620000" y="4038600"/>
            <a:ext cx="8128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0" name="Shape 17"/>
          <p:cNvSpPr/>
          <p:nvPr/>
        </p:nvSpPr>
        <p:spPr>
          <a:xfrm>
            <a:off x="7620000" y="4216400"/>
            <a:ext cx="50800" cy="1143000"/>
          </a:xfrm>
          <a:prstGeom prst="rect">
            <a:avLst/>
          </a:prstGeom>
          <a:solidFill>
            <a:srgbClr val="8C1515"/>
          </a:solidFill>
          <a:ln/>
        </p:spPr>
      </p:sp>
      <p:sp>
        <p:nvSpPr>
          <p:cNvPr id="21" name="Text 18"/>
          <p:cNvSpPr/>
          <p:nvPr/>
        </p:nvSpPr>
        <p:spPr>
          <a:xfrm>
            <a:off x="7848600" y="4216400"/>
            <a:ext cx="8128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5000"/>
              </a:lnSpc>
            </a:pPr>
            <a:r>
              <a:rPr lang="en-US" sz="1500" b="1" dirty="0">
                <a:solidFill>
                  <a:srgbClr val="1A1A1A"/>
                </a:solidFill>
                <a:latin typeface="Sorts Mill Goudy" pitchFamily="34" charset="0"/>
                <a:ea typeface="Sorts Mill Goudy" pitchFamily="34" charset="-122"/>
                <a:cs typeface="Sorts Mill Goudy" pitchFamily="34" charset="-120"/>
              </a:rPr>
              <a:t>Strategic Action Plan</a:t>
            </a:r>
            <a:endParaRPr lang="en-US" sz="1600" dirty="0"/>
          </a:p>
          <a:p>
            <a:pPr>
              <a:lnSpc>
                <a:spcPct val="165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Four priorities: reduce response times, boost satisfaction through training, optimize staffing by volume trends, and develop topic expertise.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620000" y="5486400"/>
            <a:ext cx="8128000" cy="0"/>
          </a:xfrm>
          <a:prstGeom prst="straightConnector1">
            <a:avLst/>
          </a:prstGeom>
          <a:noFill/>
          <a:ln w="12700">
            <a:solidFill>
              <a:srgbClr val="DEDEDE"/>
            </a:solidFill>
            <a:prstDash val="solid"/>
            <a:headEnd type="none"/>
            <a:tailEnd type="none"/>
          </a:ln>
        </p:spPr>
      </p:sp>
      <p:sp>
        <p:nvSpPr>
          <p:cNvPr id="23" name="Text 20"/>
          <p:cNvSpPr/>
          <p:nvPr/>
        </p:nvSpPr>
        <p:spPr>
          <a:xfrm>
            <a:off x="7620000" y="5664200"/>
            <a:ext cx="8128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spc="200" kern="0" dirty="0">
                <a:solidFill>
                  <a:srgbClr val="8C151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NEXT STEPS · IMMEDIATE ACTIONS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620000" y="5994400"/>
            <a:ext cx="8128000" cy="203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Short-term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Launch agent training on Streaming and Contract topics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Medium-term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Adjust staffing model for Week 5 peak volume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■ </a:t>
            </a:r>
            <a:pPr>
              <a:lnSpc>
                <a:spcPct val="170000"/>
              </a:lnSpc>
            </a:pPr>
            <a:r>
              <a:rPr lang="en-US" sz="1400" b="1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Long-term</a:t>
            </a:r>
            <a:pPr>
              <a:lnSpc>
                <a:spcPct val="170000"/>
              </a:lnSpc>
            </a:pPr>
            <a:r>
              <a:rPr lang="en-US" sz="1400" dirty="0">
                <a:solidFill>
                  <a:srgbClr val="2C2C2C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: Deploy self-service portal to reduce inbound call volume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124700" y="9067800"/>
            <a:ext cx="9131300" cy="38100"/>
          </a:xfrm>
          <a:prstGeom prst="rect">
            <a:avLst/>
          </a:prstGeom>
          <a:solidFill>
            <a:srgbClr val="8C1515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Call Center Performance Dashboard Insights</dc:title>
  <dc:subject>Call Center Performance Dashboard Insights</dc:subject>
  <dc:creator>Kimi</dc:creator>
  <cp:lastModifiedBy>Kimi</cp:lastModifiedBy>
  <cp:revision>1</cp:revision>
  <dcterms:created xsi:type="dcterms:W3CDTF">2026-05-11T05:55:46Z</dcterms:created>
  <dcterms:modified xsi:type="dcterms:W3CDTF">2026-05-11T05:55:46Z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{"Label":"Call Center Performance Dashboard Insights","ContentProducer":"001191110108MACG2KBH8F10000","ProduceID":"19e157bb-e782-8f49-8000-0000640ca794","ReservedCode1":"","ContentPropagator":"001191110108MACG2KBH8F20000","PropagateID":"19e157bb-e782-8f49-8000-0000640ca794","ReservedCode2":""}</vt:lpwstr>
  </property>
</Properties>
</file>